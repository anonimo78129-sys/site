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692000" cy="75600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1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292608"/>
            <a:ext cx="3051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465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REALIDADE DA SALA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256032" y="548640"/>
            <a:ext cx="3051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52"/>
              </a:lnSpc>
              <a:buNone/>
            </a:pPr>
            <a:r>
              <a:rPr lang="en-US" sz="1900" b="1" dirty="0">
                <a:solidFill>
                  <a:srgbClr val="180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Isso soa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 rot="-180000">
            <a:off x="256032" y="859536"/>
            <a:ext cx="1554480" cy="365760"/>
          </a:xfrm>
          <a:prstGeom prst="roundRect">
            <a:avLst>
              <a:gd name="adj" fmla="val 20000"/>
            </a:avLst>
          </a:prstGeom>
          <a:solidFill>
            <a:srgbClr val="F5C842"/>
          </a:solidFill>
          <a:ln w="31750">
            <a:solidFill>
              <a:srgbClr val="180E4E"/>
            </a:solidFill>
          </a:ln>
          <a:effectLst>
            <a:outerShdw sx="100000" sy="100000" kx="0" ky="0" algn="bl" rotWithShape="0" blurRad="101600" dist="63500" dir="2700000">
              <a:srgbClr val="180E4E">
                <a:alpha val="85000"/>
              </a:srgbClr>
            </a:outerShdw>
          </a:effectLst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0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familiar?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256032" y="1316736"/>
            <a:ext cx="3051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80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Janta pensando na aula de amanhã e deita planejando a próxima semana.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80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Seis turmas, seis planejamentos. Inspiração não aparece por decreto às 22h.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80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Notas, chamada, provas, relatórios. Some um domingo e a pilha continua ali.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 rot="-72000">
            <a:off x="210312" y="2276856"/>
            <a:ext cx="3143376" cy="310896"/>
          </a:xfrm>
          <a:prstGeom prst="roundRect">
            <a:avLst>
              <a:gd name="adj" fmla="val 14706"/>
            </a:avLst>
          </a:prstGeom>
          <a:solidFill>
            <a:srgbClr val="F5C842"/>
          </a:solidFill>
          <a:ln w="31750">
            <a:solidFill>
              <a:srgbClr val="180E4E"/>
            </a:solidFill>
          </a:ln>
          <a:effectLst>
            <a:outerShdw sx="100000" sy="100000" kx="0" ky="0" algn="bl" rotWithShape="0" blurRad="101600" dist="63500" dir="2700000">
              <a:srgbClr val="180E4E">
                <a:alpha val="25000"/>
              </a:srgbClr>
            </a:outerShdw>
          </a:effectLst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0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corpo sai da sala. A cabeça não.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6032" y="2752344"/>
            <a:ext cx="3051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465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VIRADA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56032" y="2990088"/>
            <a:ext cx="305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600" b="1" dirty="0">
                <a:solidFill>
                  <a:srgbClr val="180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Você escreve o tema.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56032" y="3264408"/>
            <a:ext cx="305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600" b="1" dirty="0">
                <a:solidFill>
                  <a:srgbClr val="180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 monta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 rot="180000">
            <a:off x="256032" y="3557016"/>
            <a:ext cx="1280160" cy="329184"/>
          </a:xfrm>
          <a:prstGeom prst="roundRect">
            <a:avLst>
              <a:gd name="adj" fmla="val 22222"/>
            </a:avLst>
          </a:prstGeom>
          <a:solidFill>
            <a:srgbClr val="F5C842"/>
          </a:solidFill>
          <a:ln w="31750">
            <a:solidFill>
              <a:srgbClr val="180E4E"/>
            </a:solidFill>
          </a:ln>
          <a:effectLst>
            <a:outerShdw sx="100000" sy="100000" kx="0" ky="0" algn="bl" rotWithShape="0" blurRad="101600" dist="63500" dir="2700000">
              <a:srgbClr val="180E4E">
                <a:alpha val="85000"/>
              </a:srgbClr>
            </a:outerShdw>
          </a:effectLst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80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resto.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" y="3995928"/>
            <a:ext cx="3051936" cy="1417320"/>
          </a:xfrm>
          <a:prstGeom prst="roundRect">
            <a:avLst>
              <a:gd name="adj" fmla="val 3871"/>
            </a:avLst>
          </a:prstGeom>
          <a:solidFill>
            <a:srgbClr val="180E4E"/>
          </a:solidFill>
          <a:ln/>
        </p:spPr>
      </p:sp>
      <p:sp>
        <p:nvSpPr>
          <p:cNvPr id="12" name="Text 10"/>
          <p:cNvSpPr/>
          <p:nvPr/>
        </p:nvSpPr>
        <p:spPr>
          <a:xfrm>
            <a:off x="374904" y="4087368"/>
            <a:ext cx="28141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74904" y="4242816"/>
            <a:ext cx="2814192" cy="256032"/>
          </a:xfrm>
          <a:prstGeom prst="roundRect">
            <a:avLst>
              <a:gd name="adj" fmla="val 28571"/>
            </a:avLst>
          </a:prstGeom>
          <a:solidFill>
            <a:srgbClr val="4659FF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Fotossíntese, 8º ano. Algo que engaje a turma.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74904" y="4544568"/>
            <a:ext cx="28141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CORUJÃO, EM CERCA DE 4 SEGUNDOS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374904" y="4709160"/>
            <a:ext cx="2814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Plano completo, com as habilidades da BNCC conferidas uma a uma</a:t>
            </a:r>
            <a:endParaRPr lang="en-US" sz="83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Prova com gabarito e atividade pronta para imprimir</a:t>
            </a:r>
            <a:endParaRPr lang="en-US" sz="83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Slides com imagens, exportáveis em PowerPoint</a:t>
            </a:r>
            <a:endParaRPr lang="en-US" sz="83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Um jogo do conteúdo, para fechar a semana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256032" y="5541264"/>
            <a:ext cx="968544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2E5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5586984"/>
            <a:ext cx="968544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659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1.580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292608" y="5870082"/>
            <a:ext cx="895392" cy="226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00" b="1" dirty="0">
                <a:solidFill>
                  <a:srgbClr val="5B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habilidades</a:t>
            </a:r>
            <a:endParaRPr lang="en-US" sz="70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700" b="1" dirty="0">
                <a:solidFill>
                  <a:srgbClr val="5B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BNCC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1297728" y="5541264"/>
            <a:ext cx="968544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2E5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7728" y="5586984"/>
            <a:ext cx="968544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659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334304" y="5870082"/>
            <a:ext cx="895392" cy="226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00" b="1" dirty="0">
                <a:solidFill>
                  <a:srgbClr val="5B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jogos</a:t>
            </a:r>
            <a:endParaRPr lang="en-US" sz="70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700" b="1" dirty="0">
                <a:solidFill>
                  <a:srgbClr val="5B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IA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2339424" y="5541264"/>
            <a:ext cx="968544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2E5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39424" y="5586984"/>
            <a:ext cx="968544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659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~4s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2376000" y="5870082"/>
            <a:ext cx="895392" cy="226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00" b="1" dirty="0">
                <a:solidFill>
                  <a:srgbClr val="5B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endParaRPr lang="en-US" sz="70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700" b="1" dirty="0">
                <a:solidFill>
                  <a:srgbClr val="5B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564000" y="0"/>
            <a:ext cx="3564000" cy="7560000"/>
          </a:xfrm>
          <a:prstGeom prst="rect">
            <a:avLst/>
          </a:prstGeom>
          <a:solidFill>
            <a:srgbClr val="503BF6"/>
          </a:solidFill>
          <a:ln/>
        </p:spPr>
      </p:sp>
      <p:pic>
        <p:nvPicPr>
          <p:cNvPr id="26" name="Image 0" descr="/home/user/Site/folder/pptx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20032" y="274320"/>
            <a:ext cx="292608" cy="292608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4204080" y="292608"/>
            <a:ext cx="2667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Prof. Corujão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820032" y="731520"/>
            <a:ext cx="3051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D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COMEÇAR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3820032" y="969264"/>
            <a:ext cx="3051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 sete dias. Depois você </a:t>
            </a:r>
            <a:pPr indent="0" marL="0">
              <a:lnSpc>
                <a:spcPts val="1620"/>
              </a:lnSpc>
              <a:buNone/>
            </a:pPr>
            <a:r>
              <a:rPr lang="en-US" sz="15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decide.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3820032" y="1536192"/>
            <a:ext cx="3051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E3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Criação ilimitada por sete dias, sem cartão. Passado o prazo, o material que você já criou continua seu.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820032" y="2066544"/>
            <a:ext cx="3051936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12000"/>
            </a:srgbClr>
          </a:solidFill>
          <a:ln w="1905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929760" y="2130552"/>
            <a:ext cx="2832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D9D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GRATUITO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3929760" y="2286000"/>
            <a:ext cx="283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dias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3929760" y="2578608"/>
            <a:ext cx="28324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E3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liberado, sem cartão e sem compromisso.</a:t>
            </a:r>
            <a:endParaRPr lang="en-US" sz="780" dirty="0"/>
          </a:p>
        </p:txBody>
      </p:sp>
      <p:sp>
        <p:nvSpPr>
          <p:cNvPr id="35" name="Shape 32"/>
          <p:cNvSpPr/>
          <p:nvPr/>
        </p:nvSpPr>
        <p:spPr>
          <a:xfrm>
            <a:off x="3820032" y="2706624"/>
            <a:ext cx="305193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31750">
            <a:solidFill>
              <a:srgbClr val="180E4E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35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3929760" y="2770632"/>
            <a:ext cx="2832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65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APOIADOR PRO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3929760" y="2926080"/>
            <a:ext cx="283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659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R$ 59,90 /mês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3929760" y="3218688"/>
            <a:ext cx="28324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5B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prazo e sem fidelidade. Menos de R$ 2 por dia, o preço de um café.</a:t>
            </a:r>
            <a:endParaRPr lang="en-US" sz="780" dirty="0"/>
          </a:p>
        </p:txBody>
      </p:sp>
      <p:sp>
        <p:nvSpPr>
          <p:cNvPr id="39" name="Shape 36"/>
          <p:cNvSpPr/>
          <p:nvPr/>
        </p:nvSpPr>
        <p:spPr>
          <a:xfrm>
            <a:off x="3820032" y="3456432"/>
            <a:ext cx="3051936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180E4E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35000"/>
              </a:srgbClr>
            </a:outerShdw>
          </a:effectLst>
        </p:spPr>
      </p:sp>
      <p:pic>
        <p:nvPicPr>
          <p:cNvPr id="40" name="Image 1" descr="/home/user/Site/folder/pptx/assets/qr-ap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3184" y="3529584"/>
            <a:ext cx="566928" cy="5669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4551552" y="3511296"/>
            <a:ext cx="222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80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Aponte a câmera e teste grátis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4551552" y="3840480"/>
            <a:ext cx="2228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700" dirty="0">
                <a:solidFill>
                  <a:srgbClr val="5B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Celular, tablet ou computador.</a:t>
            </a:r>
            <a:endParaRPr lang="en-US" sz="700" dirty="0"/>
          </a:p>
        </p:txBody>
      </p:sp>
      <p:sp>
        <p:nvSpPr>
          <p:cNvPr id="43" name="Text 39"/>
          <p:cNvSpPr/>
          <p:nvPr/>
        </p:nvSpPr>
        <p:spPr>
          <a:xfrm>
            <a:off x="4551552" y="4005072"/>
            <a:ext cx="2228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465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app.profcorujao.com.br</a:t>
            </a:r>
            <a:endParaRPr lang="en-US" sz="800" dirty="0"/>
          </a:p>
        </p:txBody>
      </p:sp>
      <p:sp>
        <p:nvSpPr>
          <p:cNvPr id="44" name="Shape 40"/>
          <p:cNvSpPr/>
          <p:nvPr/>
        </p:nvSpPr>
        <p:spPr>
          <a:xfrm>
            <a:off x="3820032" y="4242816"/>
            <a:ext cx="3051936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180E4E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35000"/>
              </a:srgbClr>
            </a:outerShdw>
          </a:effectLst>
        </p:spPr>
      </p:sp>
      <p:pic>
        <p:nvPicPr>
          <p:cNvPr id="45" name="Image 2" descr="/home/user/Site/folder/pptx/assets/qr-wha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3184" y="4315968"/>
            <a:ext cx="566928" cy="566928"/>
          </a:xfrm>
          <a:prstGeom prst="rect">
            <a:avLst/>
          </a:prstGeom>
        </p:spPr>
      </p:pic>
      <p:sp>
        <p:nvSpPr>
          <p:cNvPr id="46" name="Text 41"/>
          <p:cNvSpPr/>
          <p:nvPr/>
        </p:nvSpPr>
        <p:spPr>
          <a:xfrm>
            <a:off x="4551552" y="4297680"/>
            <a:ext cx="222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80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Ficou com dúvida? Fale comigo</a:t>
            </a:r>
            <a:endParaRPr lang="en-US" sz="1000" dirty="0"/>
          </a:p>
        </p:txBody>
      </p:sp>
      <p:sp>
        <p:nvSpPr>
          <p:cNvPr id="47" name="Text 42"/>
          <p:cNvSpPr/>
          <p:nvPr/>
        </p:nvSpPr>
        <p:spPr>
          <a:xfrm>
            <a:off x="4551552" y="4626864"/>
            <a:ext cx="2228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700" dirty="0">
                <a:solidFill>
                  <a:srgbClr val="5B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direto com quem desenvolveu.</a:t>
            </a:r>
            <a:endParaRPr lang="en-US" sz="700" dirty="0"/>
          </a:p>
        </p:txBody>
      </p:sp>
      <p:sp>
        <p:nvSpPr>
          <p:cNvPr id="48" name="Text 43"/>
          <p:cNvSpPr/>
          <p:nvPr/>
        </p:nvSpPr>
        <p:spPr>
          <a:xfrm>
            <a:off x="4551552" y="4791456"/>
            <a:ext cx="2228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465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(98) 98179-6309</a:t>
            </a:r>
            <a:endParaRPr lang="en-US" sz="800" dirty="0"/>
          </a:p>
        </p:txBody>
      </p:sp>
      <p:sp>
        <p:nvSpPr>
          <p:cNvPr id="49" name="Text 44"/>
          <p:cNvSpPr/>
          <p:nvPr/>
        </p:nvSpPr>
        <p:spPr>
          <a:xfrm rot="-120000">
            <a:off x="3820032" y="5084064"/>
            <a:ext cx="1828800" cy="219456"/>
          </a:xfrm>
          <a:prstGeom prst="roundRect">
            <a:avLst>
              <a:gd name="adj" fmla="val 166667"/>
            </a:avLst>
          </a:prstGeom>
          <a:solidFill>
            <a:srgbClr val="10B981"/>
          </a:solidFill>
          <a:ln w="25400">
            <a:solidFill>
              <a:srgbClr val="063A28"/>
            </a:solidFill>
          </a:ln>
          <a:effectLst>
            <a:outerShdw sx="100000" sy="100000" kx="0" ky="0" algn="bl" rotWithShape="0" blurRad="101600" dist="63500" dir="2700000">
              <a:srgbClr val="063A28">
                <a:alpha val="90000"/>
              </a:srgbClr>
            </a:outerShdw>
          </a:effectLst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6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DIAS GRÁTIS · SEM CARTÃO</a:t>
            </a:r>
            <a:endParaRPr lang="en-US" sz="950" dirty="0"/>
          </a:p>
        </p:txBody>
      </p:sp>
      <p:sp>
        <p:nvSpPr>
          <p:cNvPr id="50" name="Text 45"/>
          <p:cNvSpPr/>
          <p:nvPr/>
        </p:nvSpPr>
        <p:spPr>
          <a:xfrm>
            <a:off x="3820032" y="5376672"/>
            <a:ext cx="3051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3"/>
              </a:lnSpc>
              <a:buNone/>
            </a:pPr>
            <a:r>
              <a:rPr lang="en-US" sz="780" dirty="0">
                <a:solidFill>
                  <a:srgbClr val="D9D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uma empresa. É um TCC. Construí o Prof. Corujão sozinho, para os professores que eu vi trabalhando até tarde com o que tinham.</a:t>
            </a:r>
            <a:endParaRPr lang="en-US" sz="780" dirty="0"/>
          </a:p>
          <a:p>
            <a:pPr indent="0" marL="0">
              <a:lnSpc>
                <a:spcPts val="1053"/>
              </a:lnSpc>
              <a:buNone/>
            </a:pPr>
            <a:r>
              <a:rPr lang="en-US" sz="780" dirty="0">
                <a:solidFill>
                  <a:srgbClr val="D9D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Lyelson Martins</a:t>
            </a:r>
            <a:endParaRPr lang="en-US" sz="780" dirty="0"/>
          </a:p>
        </p:txBody>
      </p:sp>
      <p:sp>
        <p:nvSpPr>
          <p:cNvPr id="51" name="Text 46"/>
          <p:cNvSpPr/>
          <p:nvPr/>
        </p:nvSpPr>
        <p:spPr>
          <a:xfrm>
            <a:off x="3820032" y="5888736"/>
            <a:ext cx="3051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dirty="0">
                <a:solidFill>
                  <a:srgbClr val="9AA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Prof. Corujão · @prof.corujão</a:t>
            </a:r>
            <a:endParaRPr lang="en-US" sz="700" dirty="0"/>
          </a:p>
        </p:txBody>
      </p:sp>
      <p:sp>
        <p:nvSpPr>
          <p:cNvPr id="52" name="Shape 47"/>
          <p:cNvSpPr/>
          <p:nvPr/>
        </p:nvSpPr>
        <p:spPr>
          <a:xfrm>
            <a:off x="7128000" y="0"/>
            <a:ext cx="3564000" cy="7560000"/>
          </a:xfrm>
          <a:prstGeom prst="rect">
            <a:avLst/>
          </a:prstGeom>
          <a:solidFill>
            <a:srgbClr val="180E4E"/>
          </a:solidFill>
          <a:ln/>
        </p:spPr>
      </p:sp>
      <p:pic>
        <p:nvPicPr>
          <p:cNvPr id="53" name="Image 3" descr="/home/user/Site/folder/pptx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4032" y="274320"/>
            <a:ext cx="292608" cy="29260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768080" y="292608"/>
            <a:ext cx="2411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Prof. Corujão</a:t>
            </a:r>
            <a:endParaRPr lang="en-US" sz="1300" dirty="0"/>
          </a:p>
        </p:txBody>
      </p:sp>
      <p:sp>
        <p:nvSpPr>
          <p:cNvPr id="55" name="Text 49"/>
          <p:cNvSpPr/>
          <p:nvPr/>
        </p:nvSpPr>
        <p:spPr>
          <a:xfrm>
            <a:off x="7384032" y="603504"/>
            <a:ext cx="3051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9AA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@PROF.CORUJÃO</a:t>
            </a:r>
            <a:endParaRPr lang="en-US" sz="700" dirty="0"/>
          </a:p>
        </p:txBody>
      </p:sp>
      <p:sp>
        <p:nvSpPr>
          <p:cNvPr id="56" name="Text 50"/>
          <p:cNvSpPr/>
          <p:nvPr/>
        </p:nvSpPr>
        <p:spPr>
          <a:xfrm rot="-180000">
            <a:off x="7384032" y="896112"/>
            <a:ext cx="960120" cy="384048"/>
          </a:xfrm>
          <a:prstGeom prst="roundRect">
            <a:avLst>
              <a:gd name="adj" fmla="val 19048"/>
            </a:avLst>
          </a:prstGeom>
          <a:solidFill>
            <a:srgbClr val="F5C842"/>
          </a:solidFill>
          <a:ln w="31750">
            <a:solidFill>
              <a:srgbClr val="180E4E"/>
            </a:solidFill>
          </a:ln>
          <a:effectLst>
            <a:outerShdw sx="100000" sy="100000" kx="0" ky="0" algn="bl" rotWithShape="0" blurRad="101600" dist="63500" dir="2700000">
              <a:srgbClr val="180E4E">
                <a:alpha val="85000"/>
              </a:srgbClr>
            </a:outerShdw>
          </a:effectLst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0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</a:t>
            </a:r>
            <a:endParaRPr lang="en-US" sz="2000" dirty="0"/>
          </a:p>
        </p:txBody>
      </p:sp>
      <p:sp>
        <p:nvSpPr>
          <p:cNvPr id="57" name="Text 51"/>
          <p:cNvSpPr/>
          <p:nvPr/>
        </p:nvSpPr>
        <p:spPr>
          <a:xfrm rot="144000">
            <a:off x="7384032" y="1353312"/>
            <a:ext cx="3051936" cy="420624"/>
          </a:xfrm>
          <a:prstGeom prst="roundRect">
            <a:avLst>
              <a:gd name="adj" fmla="val 17391"/>
            </a:avLst>
          </a:prstGeom>
          <a:solidFill>
            <a:srgbClr val="F5C842"/>
          </a:solidFill>
          <a:ln w="31750">
            <a:solidFill>
              <a:srgbClr val="180E4E"/>
            </a:solidFill>
          </a:ln>
          <a:effectLst>
            <a:outerShdw sx="100000" sy="100000" kx="0" ky="0" algn="bl" rotWithShape="0" blurRad="101600" dist="63500" dir="2700000">
              <a:srgbClr val="180E4E">
                <a:alpha val="85000"/>
              </a:srgbClr>
            </a:outerShdw>
          </a:effectLst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80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PROFESSOR(A)</a:t>
            </a:r>
            <a:endParaRPr lang="en-US" sz="1700" dirty="0"/>
          </a:p>
        </p:txBody>
      </p:sp>
      <p:sp>
        <p:nvSpPr>
          <p:cNvPr id="58" name="Text 52"/>
          <p:cNvSpPr/>
          <p:nvPr/>
        </p:nvSpPr>
        <p:spPr>
          <a:xfrm>
            <a:off x="7384032" y="1920240"/>
            <a:ext cx="3051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12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Cansado de fazer tudo sozinho e sem tempo de sobra?</a:t>
            </a:r>
            <a:endParaRPr lang="en-US" sz="1400" dirty="0"/>
          </a:p>
        </p:txBody>
      </p:sp>
      <p:sp>
        <p:nvSpPr>
          <p:cNvPr id="59" name="Text 53"/>
          <p:cNvSpPr/>
          <p:nvPr/>
        </p:nvSpPr>
        <p:spPr>
          <a:xfrm>
            <a:off x="7384032" y="2651760"/>
            <a:ext cx="3051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D9D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Pouco tempo, muita cobrança, sobrecarga que ninguém vê de fora.</a:t>
            </a:r>
            <a:endParaRPr lang="en-US" sz="900" dirty="0"/>
          </a:p>
        </p:txBody>
      </p:sp>
      <p:pic>
        <p:nvPicPr>
          <p:cNvPr id="60" name="Image 4" descr="/home/user/Site/folder/pptx/assets/illu-01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341840" y="4313880"/>
            <a:ext cx="3136320" cy="2880360"/>
          </a:xfrm>
          <a:prstGeom prst="rect">
            <a:avLst/>
          </a:prstGeom>
        </p:spPr>
      </p:pic>
      <p:sp>
        <p:nvSpPr>
          <p:cNvPr id="61" name="Text 54"/>
          <p:cNvSpPr/>
          <p:nvPr/>
        </p:nvSpPr>
        <p:spPr>
          <a:xfrm rot="-120000">
            <a:off x="7384032" y="6737040"/>
            <a:ext cx="1828800" cy="219456"/>
          </a:xfrm>
          <a:prstGeom prst="roundRect">
            <a:avLst>
              <a:gd name="adj" fmla="val 166667"/>
            </a:avLst>
          </a:prstGeom>
          <a:solidFill>
            <a:srgbClr val="10B981"/>
          </a:solidFill>
          <a:ln w="25400">
            <a:solidFill>
              <a:srgbClr val="063A28"/>
            </a:solidFill>
          </a:ln>
          <a:effectLst>
            <a:outerShdw sx="100000" sy="100000" kx="0" ky="0" algn="bl" rotWithShape="0" blurRad="101600" dist="63500" dir="2700000">
              <a:srgbClr val="063A28">
                <a:alpha val="90000"/>
              </a:srgbClr>
            </a:outerShdw>
          </a:effectLst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6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DIAS GRÁTIS · SEM CARTÃO</a:t>
            </a:r>
            <a:endParaRPr lang="en-US" sz="950" dirty="0"/>
          </a:p>
        </p:txBody>
      </p:sp>
      <p:sp>
        <p:nvSpPr>
          <p:cNvPr id="62" name="Text 55"/>
          <p:cNvSpPr/>
          <p:nvPr/>
        </p:nvSpPr>
        <p:spPr>
          <a:xfrm>
            <a:off x="7384032" y="7011360"/>
            <a:ext cx="3051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80"/>
              </a:lnSpc>
              <a:buNone/>
            </a:pPr>
            <a:r>
              <a:rPr lang="en-US" sz="800" dirty="0">
                <a:solidFill>
                  <a:srgbClr val="D9D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assistente de IA feito por professor, para professor.</a:t>
            </a:r>
            <a:endParaRPr lang="en-US" sz="800" dirty="0"/>
          </a:p>
        </p:txBody>
      </p:sp>
      <p:sp>
        <p:nvSpPr>
          <p:cNvPr id="63" name="Text 56"/>
          <p:cNvSpPr/>
          <p:nvPr/>
        </p:nvSpPr>
        <p:spPr>
          <a:xfrm>
            <a:off x="7384032" y="7285680"/>
            <a:ext cx="3051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app.profcorujao.com.br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292608"/>
            <a:ext cx="3051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465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VEM JUNTO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256032" y="530352"/>
            <a:ext cx="305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74"/>
              </a:lnSpc>
              <a:buNone/>
            </a:pPr>
            <a:r>
              <a:rPr lang="en-US" sz="1550" b="1" dirty="0">
                <a:solidFill>
                  <a:srgbClr val="180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Meia dúzia de apps num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 rot="-180000">
            <a:off x="256032" y="822960"/>
            <a:ext cx="1371600" cy="329184"/>
          </a:xfrm>
          <a:prstGeom prst="roundRect">
            <a:avLst>
              <a:gd name="adj" fmla="val 22222"/>
            </a:avLst>
          </a:prstGeom>
          <a:solidFill>
            <a:srgbClr val="F5C842"/>
          </a:solidFill>
          <a:ln w="31750">
            <a:solidFill>
              <a:srgbClr val="180E4E"/>
            </a:solidFill>
          </a:ln>
          <a:effectLst>
            <a:outerShdw sx="100000" sy="100000" kx="0" ky="0" algn="bl" rotWithShape="0" blurRad="101600" dist="63500" dir="2700000">
              <a:srgbClr val="180E4E">
                <a:alpha val="85000"/>
              </a:srgbClr>
            </a:outerShdw>
          </a:effectLst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80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só lugar.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56032" y="1280160"/>
            <a:ext cx="3051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ferramenta resolve uma dor que você tem hoje. Juntas, devolvem as horas que o planejamento come da sua semana.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1783080"/>
            <a:ext cx="305193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2E5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865376"/>
            <a:ext cx="2795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65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CARRO-CHEFE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84048" y="2048256"/>
            <a:ext cx="2795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0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Planejador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84048" y="2295144"/>
            <a:ext cx="2795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B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Digite o tema e a turma. Volta o plano inteiro, com os tempos ajustados à duração real da sua aula, mais prova, slides e sequência didática.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6032" y="2697480"/>
            <a:ext cx="305193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2E5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2779776"/>
            <a:ext cx="2795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65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GAMIFICADA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84048" y="2962656"/>
            <a:ext cx="2795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0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comportamento vira ponto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84048" y="3209544"/>
            <a:ext cx="2795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B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XP, moedas, níveis, equipes e missões da semana. A loja não dá prêmio material: dá ser ajudante do dia ou escolher a música da aula.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56032" y="3611880"/>
            <a:ext cx="305193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2E5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3694176"/>
            <a:ext cx="2795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65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PEDAGÓGICO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84048" y="3877056"/>
            <a:ext cx="2795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0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colega, não um robô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84048" y="4123944"/>
            <a:ext cx="2795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B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 especializado em educação: tira dúvida, sugere abordagem e dá feedback sobre a sua prova. Histórico sincronizado entre dispositivos.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6032" y="4544568"/>
            <a:ext cx="3051936" cy="2759400"/>
          </a:xfrm>
          <a:prstGeom prst="roundRect">
            <a:avLst>
              <a:gd name="adj" fmla="val 1988"/>
            </a:avLst>
          </a:prstGeom>
          <a:solidFill>
            <a:srgbClr val="180E4E"/>
          </a:solidFill>
          <a:ln/>
        </p:spPr>
      </p:sp>
      <p:sp>
        <p:nvSpPr>
          <p:cNvPr id="19" name="Text 17"/>
          <p:cNvSpPr/>
          <p:nvPr/>
        </p:nvSpPr>
        <p:spPr>
          <a:xfrm>
            <a:off x="384048" y="4636008"/>
            <a:ext cx="914400" cy="2576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1.580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216152" y="4636008"/>
            <a:ext cx="2000376" cy="2576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habilidades da BNCC conferidas contra o documento oficial do MEC.
</a:t>
            </a:r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C7C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IA diz que é “alinhada à BNCC”. Aqui o código é comparado antes de chegar em você, e o que não bate é reescrito.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820032" y="292608"/>
            <a:ext cx="3051936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E2E5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48048" y="374904"/>
            <a:ext cx="2795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65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&amp; DIÁRIO DE BORDO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948048" y="557784"/>
            <a:ext cx="2795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0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ano letivo a partir de um PDF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948048" y="804672"/>
            <a:ext cx="279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B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 o calendário da escola em PDF e a IA preenche feriados, recessos e eventos. A ementa vira aulas distribuídas no ano.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20032" y="1170432"/>
            <a:ext cx="3051936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E2E5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48048" y="1252728"/>
            <a:ext cx="2795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65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 DO PROFESSOR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948048" y="1435608"/>
            <a:ext cx="2795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0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burocracia do domingo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948048" y="1682496"/>
            <a:ext cx="279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B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chamada, adaptação inclusiva para TDAH, TEA e dislexia, rubrica de avaliação, bilhete para a família e aula a partir de um vídeo.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20032" y="2066544"/>
            <a:ext cx="3051936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25400">
            <a:solidFill>
              <a:srgbClr val="180E4E"/>
            </a:solidFill>
            <a:prstDash val="solid"/>
          </a:ln>
          <a:effectLst>
            <a:outerShdw sx="100000" sy="100000" kx="0" ky="0" algn="bl" rotWithShape="0" blurRad="101600" dist="63500" dir="2700000">
              <a:srgbClr val="180E4E">
                <a:alpha val="20000"/>
              </a:srgbClr>
            </a:outerShdw>
          </a:effectLst>
        </p:spPr>
      </p:sp>
      <p:pic>
        <p:nvPicPr>
          <p:cNvPr id="30" name="Image 0" descr="/home/user/Site/folder/pptx/assets/illu-06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820032" y="2066544"/>
            <a:ext cx="3051936" cy="123444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3911472" y="3355848"/>
            <a:ext cx="2869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5B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caderno da sala de escape sai pronto para imprimir, com pistas, gabarito e cartelas.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3820032" y="3867912"/>
            <a:ext cx="3051936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5F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948048" y="3950208"/>
            <a:ext cx="2795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65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3948048" y="4133088"/>
            <a:ext cx="2795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0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Nada se perde entre bimestres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3948048" y="4379976"/>
            <a:ext cx="2795904" cy="-36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B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pessoal com busca e filtro, mais um acervo compartilhado com materiais curados.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3820032" y="4507992"/>
            <a:ext cx="3051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465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HORA DA AULA, NO PROJETOR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3820032" y="4727448"/>
            <a:ext cx="675193" cy="182880"/>
          </a:xfrm>
          <a:prstGeom prst="roundRect">
            <a:avLst>
              <a:gd name="adj" fmla="val 250000"/>
            </a:avLst>
          </a:prstGeom>
          <a:solidFill>
            <a:srgbClr val="FFFFFF"/>
          </a:solidFill>
          <a:ln w="12700">
            <a:solidFill>
              <a:srgbClr val="DCDFF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0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Sorteador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4550089" y="4727448"/>
            <a:ext cx="727862" cy="182880"/>
          </a:xfrm>
          <a:prstGeom prst="roundRect">
            <a:avLst>
              <a:gd name="adj" fmla="val 250000"/>
            </a:avLst>
          </a:prstGeom>
          <a:solidFill>
            <a:srgbClr val="FFFFFF"/>
          </a:solidFill>
          <a:ln w="12700">
            <a:solidFill>
              <a:srgbClr val="DCDFF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0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Cronômetro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5332815" y="4727448"/>
            <a:ext cx="517185" cy="182880"/>
          </a:xfrm>
          <a:prstGeom prst="roundRect">
            <a:avLst>
              <a:gd name="adj" fmla="val 250000"/>
            </a:avLst>
          </a:prstGeom>
          <a:solidFill>
            <a:srgbClr val="FFFFFF"/>
          </a:solidFill>
          <a:ln w="12700">
            <a:solidFill>
              <a:srgbClr val="DCDFF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0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3820032" y="4946904"/>
            <a:ext cx="1043879" cy="182880"/>
          </a:xfrm>
          <a:prstGeom prst="roundRect">
            <a:avLst>
              <a:gd name="adj" fmla="val 250000"/>
            </a:avLst>
          </a:prstGeom>
          <a:solidFill>
            <a:srgbClr val="FFFFFF"/>
          </a:solidFill>
          <a:ln w="12700">
            <a:solidFill>
              <a:srgbClr val="DCDFF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0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Medidor de ruído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4918775" y="4946904"/>
            <a:ext cx="622524" cy="182880"/>
          </a:xfrm>
          <a:prstGeom prst="roundRect">
            <a:avLst>
              <a:gd name="adj" fmla="val 250000"/>
            </a:avLst>
          </a:prstGeom>
          <a:solidFill>
            <a:srgbClr val="FFFFFF"/>
          </a:solidFill>
          <a:ln w="12700">
            <a:solidFill>
              <a:srgbClr val="DCDFF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0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Semáforo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5596163" y="4946904"/>
            <a:ext cx="411846" cy="182880"/>
          </a:xfrm>
          <a:prstGeom prst="roundRect">
            <a:avLst>
              <a:gd name="adj" fmla="val 250000"/>
            </a:avLst>
          </a:prstGeom>
          <a:solidFill>
            <a:srgbClr val="FFFFFF"/>
          </a:solidFill>
          <a:ln w="12700">
            <a:solidFill>
              <a:srgbClr val="DCDFF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0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3820032" y="5166360"/>
            <a:ext cx="1096548" cy="182880"/>
          </a:xfrm>
          <a:prstGeom prst="roundRect">
            <a:avLst>
              <a:gd name="adj" fmla="val 250000"/>
            </a:avLst>
          </a:prstGeom>
          <a:solidFill>
            <a:srgbClr val="FFFFFF"/>
          </a:solidFill>
          <a:ln w="12700">
            <a:solidFill>
              <a:srgbClr val="DCDFF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0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Placar de equipes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 rot="-72000">
            <a:off x="3792600" y="5477256"/>
            <a:ext cx="3106800" cy="365760"/>
          </a:xfrm>
          <a:prstGeom prst="roundRect">
            <a:avLst>
              <a:gd name="adj" fmla="val 12500"/>
            </a:avLst>
          </a:prstGeom>
          <a:solidFill>
            <a:srgbClr val="F5C842"/>
          </a:solidFill>
          <a:ln w="31750">
            <a:solidFill>
              <a:srgbClr val="180E4E"/>
            </a:solidFill>
          </a:ln>
          <a:effectLst>
            <a:outerShdw sx="100000" sy="100000" kx="0" ky="0" algn="bl" rotWithShape="0" blurRad="101600" dist="63500" dir="2700000">
              <a:srgbClr val="180E4E">
                <a:alpha val="25000"/>
              </a:srgbClr>
            </a:outerShdw>
          </a:effectLst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0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 em Word e PowerPoint. O material é seu.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7384032" y="292608"/>
            <a:ext cx="3051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465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PARTE QUE A TURMA PEDE DE NOVO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7384032" y="530352"/>
            <a:ext cx="305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500" b="1" dirty="0">
                <a:solidFill>
                  <a:srgbClr val="180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Qualquer conteúdo </a:t>
            </a:r>
            <a:endParaRPr lang="en-US" sz="1500" dirty="0"/>
          </a:p>
        </p:txBody>
      </p:sp>
      <p:sp>
        <p:nvSpPr>
          <p:cNvPr id="47" name="Text 44"/>
          <p:cNvSpPr/>
          <p:nvPr/>
        </p:nvSpPr>
        <p:spPr>
          <a:xfrm rot="-180000">
            <a:off x="7384032" y="804672"/>
            <a:ext cx="1417320" cy="347472"/>
          </a:xfrm>
          <a:prstGeom prst="roundRect">
            <a:avLst>
              <a:gd name="adj" fmla="val 21053"/>
            </a:avLst>
          </a:prstGeom>
          <a:solidFill>
            <a:srgbClr val="F5C842"/>
          </a:solidFill>
          <a:ln w="31750">
            <a:solidFill>
              <a:srgbClr val="180E4E"/>
            </a:solidFill>
          </a:ln>
          <a:effectLst>
            <a:outerShdw sx="100000" sy="100000" kx="0" ky="0" algn="bl" rotWithShape="0" blurRad="101600" dist="63500" dir="2700000">
              <a:srgbClr val="180E4E">
                <a:alpha val="85000"/>
              </a:srgbClr>
            </a:outerShdw>
          </a:effectLst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0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vira jogo.</a:t>
            </a:r>
            <a:endParaRPr lang="en-US" sz="1400" dirty="0"/>
          </a:p>
        </p:txBody>
      </p:sp>
      <p:sp>
        <p:nvSpPr>
          <p:cNvPr id="48" name="Text 45"/>
          <p:cNvSpPr/>
          <p:nvPr/>
        </p:nvSpPr>
        <p:spPr>
          <a:xfrm>
            <a:off x="7384032" y="1261872"/>
            <a:ext cx="3051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escreve as perguntas pela disciplina e pelo nível da turma. Quem monta a grade é o app: o jogo sempre sai jogável.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7384032" y="1773936"/>
            <a:ext cx="3051936" cy="1527048"/>
          </a:xfrm>
          <a:prstGeom prst="roundRect">
            <a:avLst>
              <a:gd name="adj" fmla="val 2994"/>
            </a:avLst>
          </a:prstGeom>
          <a:solidFill>
            <a:srgbClr val="FFFFFF"/>
          </a:solidFill>
          <a:ln w="25400">
            <a:solidFill>
              <a:srgbClr val="180E4E"/>
            </a:solidFill>
            <a:prstDash val="solid"/>
          </a:ln>
          <a:effectLst>
            <a:outerShdw sx="100000" sy="100000" kx="0" ky="0" algn="bl" rotWithShape="0" blurRad="101600" dist="63500" dir="2700000">
              <a:srgbClr val="180E4E">
                <a:alpha val="25000"/>
              </a:srgbClr>
            </a:outerShdw>
          </a:effectLst>
        </p:spPr>
      </p:sp>
      <p:pic>
        <p:nvPicPr>
          <p:cNvPr id="50" name="Image 1" descr="/home/user/Site/folder/pptx/assets/illu-mundo-perdid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84032" y="1773936"/>
            <a:ext cx="3051936" cy="960120"/>
          </a:xfrm>
          <a:prstGeom prst="rect">
            <a:avLst/>
          </a:prstGeom>
        </p:spPr>
      </p:pic>
      <p:sp>
        <p:nvSpPr>
          <p:cNvPr id="51" name="Text 47"/>
          <p:cNvSpPr/>
          <p:nvPr/>
        </p:nvSpPr>
        <p:spPr>
          <a:xfrm>
            <a:off x="7475472" y="2779776"/>
            <a:ext cx="2869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0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Mundo Perdido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7475472" y="2953512"/>
            <a:ext cx="2869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5B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Aventura narrativa em tela cheia. O aluno joga sozinho, no próprio ritmo.</a:t>
            </a:r>
            <a:endParaRPr lang="en-US" sz="750" dirty="0"/>
          </a:p>
        </p:txBody>
      </p:sp>
      <p:sp>
        <p:nvSpPr>
          <p:cNvPr id="53" name="Shape 49"/>
          <p:cNvSpPr/>
          <p:nvPr/>
        </p:nvSpPr>
        <p:spPr>
          <a:xfrm>
            <a:off x="7384032" y="3374136"/>
            <a:ext cx="3051936" cy="1527048"/>
          </a:xfrm>
          <a:prstGeom prst="roundRect">
            <a:avLst>
              <a:gd name="adj" fmla="val 2994"/>
            </a:avLst>
          </a:prstGeom>
          <a:solidFill>
            <a:srgbClr val="FFFFFF"/>
          </a:solidFill>
          <a:ln w="25400">
            <a:solidFill>
              <a:srgbClr val="180E4E"/>
            </a:solidFill>
            <a:prstDash val="solid"/>
          </a:ln>
          <a:effectLst>
            <a:outerShdw sx="100000" sy="100000" kx="0" ky="0" algn="bl" rotWithShape="0" blurRad="101600" dist="63500" dir="2700000">
              <a:srgbClr val="180E4E">
                <a:alpha val="25000"/>
              </a:srgbClr>
            </a:outerShdw>
          </a:effectLst>
        </p:spPr>
      </p:sp>
      <p:pic>
        <p:nvPicPr>
          <p:cNvPr id="54" name="Image 2" descr="/home/user/Site/folder/pptx/assets/illu-quiz-relampago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84032" y="3374136"/>
            <a:ext cx="3051936" cy="960120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475472" y="4379976"/>
            <a:ext cx="2869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0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 Relâmpago</a:t>
            </a:r>
            <a:endParaRPr lang="en-US" sz="1050" dirty="0"/>
          </a:p>
        </p:txBody>
      </p:sp>
      <p:sp>
        <p:nvSpPr>
          <p:cNvPr id="56" name="Text 51"/>
          <p:cNvSpPr/>
          <p:nvPr/>
        </p:nvSpPr>
        <p:spPr>
          <a:xfrm>
            <a:off x="7475472" y="4553712"/>
            <a:ext cx="2869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5B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rodadas no projetor. Fecha a aula em cinco minutos.</a:t>
            </a:r>
            <a:endParaRPr lang="en-US" sz="750" dirty="0"/>
          </a:p>
        </p:txBody>
      </p:sp>
      <p:sp>
        <p:nvSpPr>
          <p:cNvPr id="57" name="Shape 52"/>
          <p:cNvSpPr/>
          <p:nvPr/>
        </p:nvSpPr>
        <p:spPr>
          <a:xfrm>
            <a:off x="7384032" y="4974336"/>
            <a:ext cx="3051936" cy="1527048"/>
          </a:xfrm>
          <a:prstGeom prst="roundRect">
            <a:avLst>
              <a:gd name="adj" fmla="val 2994"/>
            </a:avLst>
          </a:prstGeom>
          <a:solidFill>
            <a:srgbClr val="FFFFFF"/>
          </a:solidFill>
          <a:ln w="25400">
            <a:solidFill>
              <a:srgbClr val="180E4E"/>
            </a:solidFill>
            <a:prstDash val="solid"/>
          </a:ln>
          <a:effectLst>
            <a:outerShdw sx="100000" sy="100000" kx="0" ky="0" algn="bl" rotWithShape="0" blurRad="101600" dist="63500" dir="2700000">
              <a:srgbClr val="180E4E">
                <a:alpha val="25000"/>
              </a:srgbClr>
            </a:outerShdw>
          </a:effectLst>
        </p:spPr>
      </p:sp>
      <p:pic>
        <p:nvPicPr>
          <p:cNvPr id="58" name="Image 3" descr="/home/user/Site/folder/pptx/assets/illu-batalha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384032" y="4974336"/>
            <a:ext cx="3051936" cy="960120"/>
          </a:xfrm>
          <a:prstGeom prst="rect">
            <a:avLst/>
          </a:prstGeom>
        </p:spPr>
      </p:pic>
      <p:sp>
        <p:nvSpPr>
          <p:cNvPr id="59" name="Text 53"/>
          <p:cNvSpPr/>
          <p:nvPr/>
        </p:nvSpPr>
        <p:spPr>
          <a:xfrm>
            <a:off x="7475472" y="5980176"/>
            <a:ext cx="2869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0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QuaqueMagia</a:t>
            </a:r>
            <a:endParaRPr lang="en-US" sz="1050" dirty="0"/>
          </a:p>
        </p:txBody>
      </p:sp>
      <p:sp>
        <p:nvSpPr>
          <p:cNvPr id="60" name="Text 54"/>
          <p:cNvSpPr/>
          <p:nvPr/>
        </p:nvSpPr>
        <p:spPr>
          <a:xfrm>
            <a:off x="7475472" y="6153912"/>
            <a:ext cx="2869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5B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Combate por acertos entre as equipes da turma.</a:t>
            </a:r>
            <a:endParaRPr lang="en-US" sz="750" dirty="0"/>
          </a:p>
        </p:txBody>
      </p:sp>
      <p:sp>
        <p:nvSpPr>
          <p:cNvPr id="61" name="Text 55"/>
          <p:cNvSpPr/>
          <p:nvPr/>
        </p:nvSpPr>
        <p:spPr>
          <a:xfrm>
            <a:off x="7384032" y="6620256"/>
            <a:ext cx="1675912" cy="182880"/>
          </a:xfrm>
          <a:prstGeom prst="roundRect">
            <a:avLst>
              <a:gd name="adj" fmla="val 250000"/>
            </a:avLst>
          </a:prstGeom>
          <a:solidFill>
            <a:srgbClr val="FFFFFF"/>
          </a:solidFill>
          <a:ln w="12700">
            <a:solidFill>
              <a:srgbClr val="DCDFF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0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Escape Room · 4 ambientações</a:t>
            </a:r>
            <a:endParaRPr lang="en-US" sz="800" dirty="0"/>
          </a:p>
        </p:txBody>
      </p:sp>
      <p:sp>
        <p:nvSpPr>
          <p:cNvPr id="62" name="Text 56"/>
          <p:cNvSpPr/>
          <p:nvPr/>
        </p:nvSpPr>
        <p:spPr>
          <a:xfrm>
            <a:off x="9114808" y="6620256"/>
            <a:ext cx="885871" cy="182880"/>
          </a:xfrm>
          <a:prstGeom prst="roundRect">
            <a:avLst>
              <a:gd name="adj" fmla="val 250000"/>
            </a:avLst>
          </a:prstGeom>
          <a:solidFill>
            <a:srgbClr val="FFFFFF"/>
          </a:solidFill>
          <a:ln w="12700">
            <a:solidFill>
              <a:srgbClr val="DCDFF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0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Caça-palavras</a:t>
            </a:r>
            <a:endParaRPr lang="en-US" sz="800" dirty="0"/>
          </a:p>
        </p:txBody>
      </p:sp>
      <p:sp>
        <p:nvSpPr>
          <p:cNvPr id="63" name="Text 57"/>
          <p:cNvSpPr/>
          <p:nvPr/>
        </p:nvSpPr>
        <p:spPr>
          <a:xfrm>
            <a:off x="7384032" y="6839712"/>
            <a:ext cx="622524" cy="182880"/>
          </a:xfrm>
          <a:prstGeom prst="roundRect">
            <a:avLst>
              <a:gd name="adj" fmla="val 250000"/>
            </a:avLst>
          </a:prstGeom>
          <a:solidFill>
            <a:srgbClr val="FFFFFF"/>
          </a:solidFill>
          <a:ln w="12700">
            <a:solidFill>
              <a:srgbClr val="DCDFF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0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Cruzadas</a:t>
            </a:r>
            <a:endParaRPr lang="en-US" sz="800" dirty="0"/>
          </a:p>
        </p:txBody>
      </p:sp>
      <p:sp>
        <p:nvSpPr>
          <p:cNvPr id="64" name="Text 58"/>
          <p:cNvSpPr/>
          <p:nvPr/>
        </p:nvSpPr>
        <p:spPr>
          <a:xfrm>
            <a:off x="8061420" y="6839712"/>
            <a:ext cx="464515" cy="182880"/>
          </a:xfrm>
          <a:prstGeom prst="roundRect">
            <a:avLst>
              <a:gd name="adj" fmla="val 250000"/>
            </a:avLst>
          </a:prstGeom>
          <a:solidFill>
            <a:srgbClr val="FFFFFF"/>
          </a:solidFill>
          <a:ln w="12700">
            <a:solidFill>
              <a:srgbClr val="DCDFF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0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Bingo</a:t>
            </a:r>
            <a:endParaRPr lang="en-US" sz="800" dirty="0"/>
          </a:p>
        </p:txBody>
      </p:sp>
      <p:sp>
        <p:nvSpPr>
          <p:cNvPr id="65" name="Text 59"/>
          <p:cNvSpPr/>
          <p:nvPr/>
        </p:nvSpPr>
        <p:spPr>
          <a:xfrm>
            <a:off x="8580799" y="6839712"/>
            <a:ext cx="569854" cy="182880"/>
          </a:xfrm>
          <a:prstGeom prst="roundRect">
            <a:avLst>
              <a:gd name="adj" fmla="val 250000"/>
            </a:avLst>
          </a:prstGeom>
          <a:solidFill>
            <a:srgbClr val="FFFFFF"/>
          </a:solidFill>
          <a:ln w="12700">
            <a:solidFill>
              <a:srgbClr val="DCDFF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0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</a:t>
            </a:r>
            <a:endParaRPr lang="en-US" sz="800" dirty="0"/>
          </a:p>
        </p:txBody>
      </p:sp>
      <p:sp>
        <p:nvSpPr>
          <p:cNvPr id="66" name="Text 60"/>
          <p:cNvSpPr/>
          <p:nvPr/>
        </p:nvSpPr>
        <p:spPr>
          <a:xfrm>
            <a:off x="9205517" y="6839712"/>
            <a:ext cx="727862" cy="182880"/>
          </a:xfrm>
          <a:prstGeom prst="roundRect">
            <a:avLst>
              <a:gd name="adj" fmla="val 250000"/>
            </a:avLst>
          </a:prstGeom>
          <a:solidFill>
            <a:srgbClr val="FFFFFF"/>
          </a:solidFill>
          <a:ln w="12700">
            <a:solidFill>
              <a:srgbClr val="DCDFF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0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Flashcards</a:t>
            </a:r>
            <a:endParaRPr lang="en-US" sz="800" dirty="0"/>
          </a:p>
        </p:txBody>
      </p:sp>
      <p:sp>
        <p:nvSpPr>
          <p:cNvPr id="67" name="Text 61"/>
          <p:cNvSpPr/>
          <p:nvPr/>
        </p:nvSpPr>
        <p:spPr>
          <a:xfrm rot="-60000">
            <a:off x="7721280" y="7102800"/>
            <a:ext cx="2377440" cy="274320"/>
          </a:xfrm>
          <a:prstGeom prst="roundRect">
            <a:avLst>
              <a:gd name="adj" fmla="val 26667"/>
            </a:avLst>
          </a:prstGeom>
          <a:solidFill>
            <a:srgbClr val="F5C842"/>
          </a:solidFill>
          <a:ln w="31750">
            <a:solidFill>
              <a:srgbClr val="180E4E"/>
            </a:solidFill>
          </a:ln>
          <a:effectLst>
            <a:outerShdw sx="100000" sy="100000" kx="0" ky="0" algn="bl" rotWithShape="0" blurRad="101600" dist="63500" dir="2700000">
              <a:srgbClr val="180E4E">
                <a:alpha val="85000"/>
              </a:srgbClr>
            </a:outerShdw>
          </a:effectLst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0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app.profcorujao.com.br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2026-09-07T13:58:38Z</dcterms:created>
  <dcterms:modified xsi:type="dcterms:W3CDTF">2026-09-07T13:58:38Z</dcterms:modified>
</cp:coreProperties>
</file>